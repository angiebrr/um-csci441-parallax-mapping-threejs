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7181" autoAdjust="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0D5CB-B341-4DCC-956E-FD7D993B9622}" type="datetimeFigureOut">
              <a:rPr lang="en-US" smtClean="0"/>
              <a:t>12/7/2014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29C1F5-D2B0-43C3-8844-AF8D43B34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9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Scaled and biased since heights are limited by [0, 255] and may be negative and/or in floating point.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Originally would divide </a:t>
            </a:r>
            <a:r>
              <a:rPr lang="en-US" dirty="0" err="1" smtClean="0"/>
              <a:t>Vxy</a:t>
            </a:r>
            <a:r>
              <a:rPr lang="en-US" dirty="0" smtClean="0"/>
              <a:t> by </a:t>
            </a:r>
            <a:r>
              <a:rPr lang="en-US" dirty="0" err="1" smtClean="0"/>
              <a:t>Vz</a:t>
            </a:r>
            <a:r>
              <a:rPr lang="en-US" dirty="0" smtClean="0"/>
              <a:t>, but did not look good since this offset will approach infinity</a:t>
            </a:r>
            <a:r>
              <a:rPr lang="en-US" baseline="0" dirty="0" smtClean="0"/>
              <a:t> at grazing angles</a:t>
            </a:r>
            <a:endParaRPr lang="en-US" dirty="0" smtClean="0"/>
          </a:p>
          <a:p>
            <a:endParaRPr lang="en-US" dirty="0" smtClean="0"/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Premecz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Matyas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"Iterative Parallax Mapping with Slope Information." http://www.cescg.org/CESCG-2006/papers/TUBudapest-Premecz-Matyas.pdf</a:t>
            </a:r>
          </a:p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DesLauriers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Matt. Lesson 6: Normal Mapping. https://github.com/mattdesl/lwjgl-basics/wiki/ShaderLesson6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29C1F5-D2B0-43C3-8844-AF8D43B3455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3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29C1F5-D2B0-43C3-8844-AF8D43B3455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45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E0307-B85C-446A-8EF0-0407D435D787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9ACE-9343-4EBE-B5CA-AEA240A1DC53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0F7B-89C5-4DF7-A309-6263220147D4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95DE-FD64-4606-AE61-EC1136867CC6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BBD-30FE-4CF1-900A-0C45149F8AF8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5F7F-3E81-4C65-A4D1-CB62D5B9DB91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ECC86-1672-4627-AEFE-EC5485C73905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CB01F-D966-4C62-B900-0BE008A90C98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A0EA-7DC7-4964-BB97-B173EF3B859A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862E7-95FA-4FC4-9EC5-DDBFA8DC7417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87F2-A784-4F72-BB57-0E9EACDE722E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D51E-4B19-444E-85C0-DBD7EB6263F4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255A-4AD5-4D3E-9A0A-689DA3BA976C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AD15-87AC-45B2-9EE5-8D165AF83CD7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40CCD-F0D6-4CC2-A4C8-2D7D0D875F02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E2CC-454D-4466-AC55-B86DA0A87BAE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47B1BF-4039-460D-A637-65428CBD720E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52CC-F3D9-41D4-BCE4-C208E61A3F31}" type="datetimeFigureOut">
              <a:rPr lang="en-US" dirty="0"/>
              <a:t>12/7/2014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Parallax and Normal Mapping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Angela Gross // CSCI-446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7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Texture Mapping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Normal Mapping</a:t>
                </a:r>
              </a:p>
              <a:p>
                <a:pPr lvl="1"/>
                <a:r>
                  <a:rPr lang="en-US" dirty="0" smtClean="0"/>
                  <a:t>Updates normal by using a texture that encodes the normal in the RGB</a:t>
                </a:r>
              </a:p>
              <a:p>
                <a:pPr lvl="2"/>
                <a:r>
                  <a:rPr lang="en-US" dirty="0" smtClean="0"/>
                  <a:t>RGB is stored in [0, 1], but normal is encoded in [-1, 1]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/>
                        </m:ctrlPr>
                      </m:accPr>
                      <m:e>
                        <m:r>
                          <a:rPr lang="en-US" i="1"/>
                          <m:t>𝑛</m:t>
                        </m:r>
                      </m:e>
                    </m:acc>
                    <m:r>
                      <a:rPr lang="en-US" i="1"/>
                      <m:t>=</m:t>
                    </m:r>
                    <m:r>
                      <a:rPr lang="en-US" i="1"/>
                      <m:t>𝑛𝑜𝑟𝑚𝑎𝑙𝑀𝑎𝑝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𝑢</m:t>
                            </m:r>
                            <m:r>
                              <a:rPr lang="en-US" i="1"/>
                              <m:t>, </m:t>
                            </m:r>
                            <m:r>
                              <a:rPr lang="en-US" i="1"/>
                              <m:t>𝑣</m:t>
                            </m:r>
                          </m:e>
                        </m:d>
                      </m:e>
                      <m:sub>
                        <m:r>
                          <a:rPr lang="en-US" i="1"/>
                          <m:t>𝑟𝑔𝑏</m:t>
                        </m:r>
                      </m:sub>
                    </m:sSub>
                    <m:r>
                      <a:rPr lang="en-US" i="1"/>
                      <m:t>∗2−1</m:t>
                    </m:r>
                  </m:oMath>
                </a14:m>
                <a:endParaRPr lang="en-US" dirty="0" smtClean="0">
                  <a:effectLst/>
                </a:endParaRPr>
              </a:p>
              <a:p>
                <a:pPr lvl="3"/>
                <a:r>
                  <a:rPr lang="en-US" dirty="0" smtClean="0"/>
                  <a:t>Texel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ffectLst/>
                </a:endParaRPr>
              </a:p>
              <a:p>
                <a:r>
                  <a:rPr lang="en-US" dirty="0" smtClean="0"/>
                  <a:t>Parallax Mapping</a:t>
                </a:r>
              </a:p>
              <a:p>
                <a:pPr lvl="1"/>
                <a:r>
                  <a:rPr lang="en-US" dirty="0" smtClean="0"/>
                  <a:t>Displaces (</a:t>
                </a:r>
                <a:r>
                  <a:rPr lang="en-US" dirty="0" err="1" smtClean="0"/>
                  <a:t>u,v</a:t>
                </a:r>
                <a:r>
                  <a:rPr lang="en-US" dirty="0" smtClean="0"/>
                  <a:t>) so the texture “pops”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𝑢</m:t>
                            </m:r>
                          </m:e>
                          <m:sup>
                            <m:r>
                              <a:rPr lang="en-US" i="1"/>
                              <m:t>′</m:t>
                            </m:r>
                          </m:sup>
                        </m:sSup>
                        <m:r>
                          <a:rPr lang="en-US" i="1"/>
                          <m:t>,</m:t>
                        </m:r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i="1"/>
                              <m:t>𝑣</m:t>
                            </m:r>
                          </m:e>
                          <m:sup>
                            <m:r>
                              <a:rPr lang="en-US" i="1"/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𝑢</m:t>
                        </m:r>
                        <m:r>
                          <a:rPr lang="en-US" i="1"/>
                          <m:t>,</m:t>
                        </m:r>
                        <m:r>
                          <a:rPr lang="en-US" i="1"/>
                          <m:t>𝑣</m:t>
                        </m:r>
                      </m:e>
                    </m:d>
                    <m:r>
                      <a:rPr lang="en-US" i="1"/>
                      <m:t>+</m:t>
                    </m:r>
                    <m:r>
                      <a:rPr lang="en-US" i="1"/>
                      <m:t>h</m:t>
                    </m:r>
                    <m:r>
                      <a:rPr lang="en-US" i="1"/>
                      <m:t>∗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  <m:r>
                          <a:rPr lang="en-US" i="1" smtClean="0"/>
                          <m:t>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h</m:t>
                    </m:r>
                    <m:r>
                      <a:rPr lang="en-US" i="1"/>
                      <m:t>=</m:t>
                    </m:r>
                    <m:r>
                      <a:rPr lang="en-US" i="1"/>
                      <m:t>h𝑒𝑖𝑔h𝑡𝑀𝑎𝑝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𝑢</m:t>
                            </m:r>
                            <m:r>
                              <a:rPr lang="en-US" i="1"/>
                              <m:t>, </m:t>
                            </m:r>
                            <m:r>
                              <a:rPr lang="en-US" i="1"/>
                              <m:t>𝑣</m:t>
                            </m:r>
                          </m:e>
                        </m:d>
                      </m:e>
                      <m:sub>
                        <m:r>
                          <a:rPr lang="en-US" i="1"/>
                          <m:t>𝑎</m:t>
                        </m:r>
                      </m:sub>
                    </m:sSub>
                    <m:r>
                      <a:rPr lang="en-US" i="1"/>
                      <m:t>∗</m:t>
                    </m:r>
                    <m:r>
                      <a:rPr lang="en-US" i="1"/>
                      <m:t>𝑠𝑐𝑎𝑙𝑒</m:t>
                    </m:r>
                    <m:r>
                      <a:rPr lang="en-US" i="1"/>
                      <m:t>+</m:t>
                    </m:r>
                    <m:r>
                      <a:rPr lang="en-US" i="1"/>
                      <m:t>𝑏𝑖𝑎𝑠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Uses texture that encodes the height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 smtClean="0"/>
                  <a:t>View vector,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 smtClean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61" t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903" y="3603846"/>
            <a:ext cx="2004735" cy="20047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205" y="3603847"/>
            <a:ext cx="2004735" cy="20047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7689894" y="5766912"/>
            <a:ext cx="39869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Height map (left) and normal map (right)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5086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Tangent Space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2"/>
                <a:ext cx="9613861" cy="39220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Normal map values are in tangent space and  not model space.</a:t>
                </a:r>
              </a:p>
              <a:p>
                <a:r>
                  <a:rPr lang="en-US" dirty="0" smtClean="0"/>
                  <a:t>Two of the basis vectors that define tangent space correlate to the u and v axis in texture space.</a:t>
                </a:r>
              </a:p>
              <a:p>
                <a:r>
                  <a:rPr lang="en-US" dirty="0" smtClean="0"/>
                  <a:t>Tangent Space Basis</a:t>
                </a:r>
              </a:p>
              <a:p>
                <a:pPr lvl="1"/>
                <a:r>
                  <a:rPr lang="en-US" dirty="0" smtClean="0"/>
                  <a:t>Tangent (provided as an attribute)</a:t>
                </a:r>
              </a:p>
              <a:p>
                <a:pPr lvl="1"/>
                <a:r>
                  <a:rPr lang="en-US" dirty="0" smtClean="0"/>
                  <a:t>Normal (provided as an attribute)</a:t>
                </a:r>
              </a:p>
              <a:p>
                <a:pPr lvl="1"/>
                <a:r>
                  <a:rPr lang="en-US" dirty="0" err="1" smtClean="0"/>
                  <a:t>Binormal</a:t>
                </a:r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i="1"/>
                      <m:t> </m:t>
                    </m:r>
                    <m:r>
                      <a:rPr lang="en-US" i="1"/>
                      <m:t>𝐵</m:t>
                    </m:r>
                    <m:r>
                      <a:rPr lang="en-US" i="1"/>
                      <m:t>=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𝑇</m:t>
                        </m:r>
                        <m:r>
                          <a:rPr lang="en-US" i="1"/>
                          <m:t>×</m:t>
                        </m:r>
                        <m:r>
                          <a:rPr lang="en-US" i="1"/>
                          <m:t>𝑁</m:t>
                        </m:r>
                      </m:e>
                    </m:d>
                    <m:r>
                      <a:rPr lang="en-US" i="1"/>
                      <m:t>𝑚</m:t>
                    </m:r>
                  </m:oMath>
                </a14:m>
                <a:endParaRPr lang="en-US" dirty="0" smtClean="0"/>
              </a:p>
              <a:p>
                <a:pPr lvl="3"/>
                <a:r>
                  <a:rPr lang="en-US" dirty="0" smtClean="0"/>
                  <a:t>m is the handedness (can be provided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𝑇𝐵𝑁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 	</a:t>
                </a:r>
                <a:r>
                  <a:rPr lang="en-US" i="1" dirty="0" smtClean="0"/>
                  <a:t>(3 x 3 matrix)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𝑇𝐵𝑁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2"/>
                <a:ext cx="9613861" cy="3922037"/>
              </a:xfrm>
              <a:blipFill rotWithShape="0">
                <a:blip r:embed="rId3"/>
                <a:stretch>
                  <a:fillRect l="-888" t="-3106" r="-1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1" t="7823" r="6731" b="6779"/>
          <a:stretch/>
        </p:blipFill>
        <p:spPr bwMode="auto">
          <a:xfrm>
            <a:off x="6999890" y="3529934"/>
            <a:ext cx="2427189" cy="19722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5" b="5434"/>
          <a:stretch/>
        </p:blipFill>
        <p:spPr bwMode="auto">
          <a:xfrm>
            <a:off x="9608229" y="3529934"/>
            <a:ext cx="2239010" cy="19722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91689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Demonstration!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78666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40</TotalTime>
  <Words>189</Words>
  <Application>Microsoft Office PowerPoint</Application>
  <PresentationFormat>Widescreen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Trebuchet MS</vt:lpstr>
      <vt:lpstr>Berlin</vt:lpstr>
      <vt:lpstr>Parallax and Normal Mapping</vt:lpstr>
      <vt:lpstr>Texture Mapping</vt:lpstr>
      <vt:lpstr>Tangent Space</vt:lpstr>
      <vt:lpstr>Demonstration!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Parallax and Normal Mapping</dc:title>
  <dc:creator>Angela Gross</dc:creator>
  <cp:lastModifiedBy>Angela Gross</cp:lastModifiedBy>
  <cp:revision>12</cp:revision>
  <dcterms:created xsi:type="dcterms:W3CDTF">2014-12-08T02:51:49Z</dcterms:created>
  <dcterms:modified xsi:type="dcterms:W3CDTF">2014-12-08T03:32:28Z</dcterms:modified>
</cp:coreProperties>
</file>